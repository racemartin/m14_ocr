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notesMaster" Target="notesMasters/notesMaster1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Job HF Jobs 6aaab9a95527934177eeaac8. Courbe de perte reconstruite a posteriori depuis le log brut (backend de suivi mal configure a l'origine, corrige depuis, cf. README 2.6).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Jobs reels : 6ab2c3e552d0dbd7f1d7fcd1 (OOM eval, commit 250ce41 pour le fix), 6ab2d7ee51992417dfcd40cd (sous_apprentissage lot=1). Le run 3 (taux=5e-5) n'a pas de job ID distinct documente dans le README au-dela de ces deux-la.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Job HF Jobs 6ab2ff0c52d0dbd7f1d80b0b, checkpoint 165d4040855abb6a (outputs/dpo-lora/run-20260922T222105Z). 3992 exemples train reels, ~998 pas.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Jobs d'evaluation reels : 6ab393352... beta=0,1 sans repetition_penalty (F1=0,049) ; 6ab3adaa52d0dbd7f1d8445b beta=0,1 + repetition_penalty=1,2 (F1=0,063) ; 6ab3c38a52d0dbd7f1d84c5c beta=0,3 + repetition_penalty=1,2 (F1=0,112). Prochaine etape non encore realisee : rengager le run complet a 5000 avec beta=0,3 pour confirmer ce gain a l'echelle reelle, avant de considerer l'hyperparametre valide.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103120"/>
            <a:ext cx="10728655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1F3A5F"/>
                </a:solidFill>
              </a:defRPr>
            </a:pPr>
            <a:r>
              <a:t>CHSA Triage - Soutenance</a:t>
            </a:r>
          </a:p>
          <a:p>
            <a:pPr>
              <a:defRPr sz="2200">
                <a:solidFill>
                  <a:srgbClr val="333333"/>
                </a:solidFill>
              </a:defRPr>
            </a:pPr>
            <a:r>
              <a:t>Preparation des donnees, SFT+LoRA, DPO, Deploiement</a:t>
            </a:r>
          </a:p>
          <a:p>
            <a:pPr>
              <a:spcBef>
                <a:spcPts val="2000"/>
              </a:spcBef>
              <a:defRPr sz="1600">
                <a:solidFill>
                  <a:srgbClr val="333333"/>
                </a:solidFill>
              </a:defRPr>
            </a:pPr>
            <a:r>
              <a:t>Projet CHSA-Triage - Qwen3-1.7B-Base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888888"/>
                </a:solidFill>
              </a:defRPr>
            </a:pPr>
            <a:r>
              <a:t>23/09/2026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3A5F"/>
                </a:solidFill>
              </a:defRPr>
            </a:pPr>
            <a:r>
              <a:t>Objet du POC &amp; architecture</a:t>
            </a:r>
          </a:p>
          <a:p>
            <a:pPr>
              <a:defRPr sz="1400">
                <a:solidFill>
                  <a:srgbClr val="333333"/>
                </a:solidFill>
              </a:defRPr>
            </a:pPr>
            <a:r>
              <a:t>Centre Hospitalier Saint-Aurelien - agent IA de triage medical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11535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</a:defRPr>
            </a:pPr>
            <a:r>
              <a:t>• POC : aider au triage medical par entretien clinique conversationnel puis diagnostic structure.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</a:defRPr>
            </a:pPr>
            <a:r>
              <a:t>• Architecture hexagonale : domaine / ports / adaptateurs, testable sans GPU a chaque etape.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</a:defRPr>
            </a:pPr>
            <a:r>
              <a:t>• Un seul port MoteurInference reutilise sans modification a travers 7 usages reels (baselines, evaluation post-SFT, evaluation post-DPO, entretien clinique en production).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</a:defRPr>
            </a:pPr>
            <a:r>
              <a:t>• 4 etapes reelles : preparation des donnees -&gt; SFT+LoRA -&gt; DPO -&gt; deploiement.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3A5F"/>
                </a:solidFill>
              </a:defRPr>
            </a:pPr>
            <a:r>
              <a:t>Resultat phare</a:t>
            </a:r>
          </a:p>
          <a:p>
            <a:pPr>
              <a:defRPr sz="1400">
                <a:solidFill>
                  <a:srgbClr val="333333"/>
                </a:solidFill>
              </a:defRPr>
            </a:pPr>
            <a:r>
              <a:t>Vue d'ensemble, detail dans les sections suivantes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3291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2E7D32"/>
                </a:solidFill>
              </a:defRPr>
            </a:pPr>
            <a:r>
              <a:t>0,112</a:t>
            </a:r>
          </a:p>
          <a:p>
            <a:pPr algn="ctr">
              <a:defRPr sz="1300">
                <a:solidFill>
                  <a:srgbClr val="333333"/>
                </a:solidFill>
              </a:defRPr>
            </a:pPr>
            <a:r>
              <a:t>F1 token post-SFT</a:t>
            </a:r>
            <a:br/>
            <a:r>
              <a:t>(vs 0,043 baseline GPU)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80560" y="1828800"/>
            <a:ext cx="3291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2E7D32"/>
                </a:solidFill>
              </a:defRPr>
            </a:pPr>
            <a:r>
              <a:t>72,5 %</a:t>
            </a:r>
          </a:p>
          <a:p>
            <a:pPr algn="ctr">
              <a:defRPr sz="1300">
                <a:solidFill>
                  <a:srgbClr val="333333"/>
                </a:solidFill>
              </a:defRPr>
            </a:pPr>
            <a:r>
              <a:t>rewards/accuracies DPO</a:t>
            </a:r>
            <a:br/>
            <a:r>
              <a:t>(5000 exemples, verdict saine)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1828800"/>
            <a:ext cx="3291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2E7D32"/>
                </a:solidFill>
              </a:defRPr>
            </a:pPr>
            <a:r>
              <a:t>3</a:t>
            </a:r>
          </a:p>
          <a:p>
            <a:pPr algn="ctr">
              <a:defRPr sz="1300">
                <a:solidFill>
                  <a:srgbClr val="333333"/>
                </a:solidFill>
              </a:defRPr>
            </a:pPr>
            <a:r>
              <a:t>pieces de deploiement</a:t>
            </a:r>
            <a:br/>
            <a:r>
              <a:t>(vLLM+LoRA, API, Streamlit)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931920"/>
            <a:ext cx="10911535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600">
                <a:solidFill>
                  <a:srgbClr val="333333"/>
                </a:solidFill>
              </a:defRPr>
            </a:pPr>
            <a:r>
              <a:t>• Le SFT triple le F1 token par rapport a la meilleure baseline : premiere preuve chiffree d'un effet mesurable.</a:t>
            </a:r>
          </a:p>
          <a:p>
            <a:pPr>
              <a:spcAft>
                <a:spcPts val="1200"/>
              </a:spcAft>
              <a:defRPr sz="1600">
                <a:solidFill>
                  <a:srgbClr val="333333"/>
                </a:solidFill>
              </a:defRPr>
            </a:pPr>
            <a:r>
              <a:t>• Le DPO a ete entraine avec succes a l'echelle reelle, mais a revele un probleme reel a l'evaluation (degenerescence de generation), diagnostique et corrige : le fil conducteur de la section 3.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3A5F"/>
                </a:solidFill>
              </a:defRPr>
            </a:pPr>
            <a:r>
              <a:t>1. Preparation de donnees</a:t>
            </a:r>
          </a:p>
          <a:p>
            <a:pPr>
              <a:defRPr sz="1400">
                <a:solidFill>
                  <a:srgbClr val="333333"/>
                </a:solidFill>
              </a:defRPr>
            </a:pPr>
            <a:r>
              <a:t>6 corpus sources fusionnes, anonymises, repartis en splits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3291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2E7D32"/>
                </a:solidFill>
              </a:defRPr>
            </a:pPr>
            <a:r>
              <a:t>134 883</a:t>
            </a:r>
          </a:p>
          <a:p>
            <a:pPr algn="ctr">
              <a:defRPr sz="1300">
                <a:solidFill>
                  <a:srgbClr val="333333"/>
                </a:solidFill>
              </a:defRPr>
            </a:pPr>
            <a:r>
              <a:t>exemples pivot</a:t>
            </a:r>
            <a:br/>
            <a:r>
              <a:t>(147 204 bruts, 12 321 doublons ecartes)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80560" y="1828800"/>
            <a:ext cx="3657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2E7D32"/>
                </a:solidFill>
              </a:defRPr>
            </a:pPr>
            <a:r>
              <a:t>RGPD</a:t>
            </a:r>
          </a:p>
          <a:p>
            <a:pPr algn="ctr">
              <a:defRPr sz="1300">
                <a:solidFill>
                  <a:srgbClr val="333333"/>
                </a:solidFill>
              </a:defRPr>
            </a:pPr>
            <a:r>
              <a:t>Anonymisation Presidio + spaCy</a:t>
            </a:r>
            <a:br/>
            <a:r>
              <a:t>par vagues incrementales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03920" y="1828800"/>
            <a:ext cx="3291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2E7D32"/>
                </a:solidFill>
              </a:defRPr>
            </a:pPr>
            <a:r>
              <a:t>train/val/test</a:t>
            </a:r>
          </a:p>
          <a:p>
            <a:pPr algn="ctr">
              <a:defRPr sz="1300">
                <a:solidFill>
                  <a:srgbClr val="333333"/>
                </a:solidFill>
              </a:defRPr>
            </a:pPr>
            <a:r>
              <a:t>Splits stratifies,</a:t>
            </a:r>
            <a:br/>
            <a:r>
              <a:t>jamais reassignes d'une execution a l'autre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931920"/>
            <a:ext cx="10911535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600">
                <a:solidFill>
                  <a:srgbClr val="333333"/>
                </a:solidFill>
              </a:defRPr>
            </a:pPr>
            <a:r>
              <a:t>• Identifiant deterministe (hash de cle naturelle) : a mis au jour de vrais doublons invisibles avec des ids aleatoires.</a:t>
            </a:r>
          </a:p>
          <a:p>
            <a:pPr>
              <a:spcAft>
                <a:spcPts val="1200"/>
              </a:spcAft>
              <a:defRPr sz="1600">
                <a:solidFill>
                  <a:srgbClr val="333333"/>
                </a:solidFill>
              </a:defRPr>
            </a:pPr>
            <a:r>
              <a:t>• Pivot original jamais mute : l'anonymisation ecrit dans un fichier separe, texte source toujours disponible pour controle.</a:t>
            </a:r>
          </a:p>
          <a:p>
            <a:pPr>
              <a:spcAft>
                <a:spcPts val="1200"/>
              </a:spcAft>
              <a:defRPr sz="1600">
                <a:solidFill>
                  <a:srgbClr val="333333"/>
                </a:solidFill>
              </a:defRPr>
            </a:pPr>
            <a:r>
              <a:t>• Revision humaine persistee des candidats PII residuelle avant toute publication.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3A5F"/>
                </a:solidFill>
              </a:defRPr>
            </a:pPr>
            <a:r>
              <a:t>2. SFT + LoRA - Architecture</a:t>
            </a:r>
          </a:p>
          <a:p>
            <a:pPr>
              <a:defRPr sz="1400">
                <a:solidFill>
                  <a:srgbClr val="333333"/>
                </a:solidFill>
              </a:defRPr>
            </a:pPr>
            <a:r>
              <a:t>Deux baselines zero-shot mesurees avant tout entrainement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11535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900">
                <a:solidFill>
                  <a:srgbClr val="333333"/>
                </a:solidFill>
              </a:defRPr>
            </a:pPr>
            <a:r>
              <a:t>• MoteurInference : 3 adaptateurs reels (llama.cpp/GGUF, transformers/bf16, transformers+LoRA).</a:t>
            </a:r>
          </a:p>
          <a:p>
            <a:pPr>
              <a:spcAft>
                <a:spcPts val="1200"/>
              </a:spcAft>
              <a:defRPr sz="1900">
                <a:solidFill>
                  <a:srgbClr val="333333"/>
                </a:solidFill>
              </a:defRPr>
            </a:pPr>
            <a:r>
              <a:t>• EntraineurSupervise (TrlSftEntraineurAdapter), FormateurConversation (ChatMLFormateurAdapter), SuiviExperimentation (MLflow / TensorBoard / dataset HF).</a:t>
            </a:r>
          </a:p>
          <a:p>
            <a:pPr>
              <a:spcAft>
                <a:spcPts val="1200"/>
              </a:spcAft>
              <a:defRPr sz="1900">
                <a:solidFill>
                  <a:srgbClr val="333333"/>
                </a:solidFill>
              </a:defRPr>
            </a:pPr>
            <a:r>
              <a:t>• Deux baselines independantes AVANT tout entrainement (CPU quantifie Q4_K_M et GPU bf16), pour ne jamais melanger l'effet de la quantification avec l'effet reel de l'entrainement.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3A5F"/>
                </a:solidFill>
              </a:defRPr>
            </a:pPr>
            <a:r>
              <a:t>2.2 Baselines zero-shot</a:t>
            </a:r>
          </a:p>
          <a:p>
            <a:pPr>
              <a:defRPr sz="1400">
                <a:solidFill>
                  <a:srgbClr val="333333"/>
                </a:solidFill>
              </a:defRPr>
            </a:pPr>
            <a:r>
              <a:t>Qwen/Qwen3-1.7B-Base SANS entrainement, memes 278 exemples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22960" y="1737360"/>
          <a:ext cx="1051560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1737360"/>
                <a:gridCol w="1737360"/>
                <a:gridCol w="1920240"/>
                <a:gridCol w="1005840"/>
              </a:tblGrid>
              <a:tr h="457200">
                <a:tc>
                  <a:txBody>
                    <a:bodyPr/>
                    <a:lstStyle/>
                    <a:p>
                      <a:pPr>
                        <a:defRPr b="1" sz="1500">
                          <a:solidFill>
                            <a:srgbClr val="FFFFFF"/>
                          </a:solidFill>
                        </a:defRPr>
                      </a:pP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500">
                          <a:solidFill>
                            <a:srgbClr val="FFFFFF"/>
                          </a:solidFill>
                        </a:defRPr>
                      </a:pPr>
                      <a:r>
                        <a:t>Exact match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500">
                          <a:solidFill>
                            <a:srgbClr val="FFFFFF"/>
                          </a:solidFill>
                        </a:defRPr>
                      </a:pPr>
                      <a:r>
                        <a:t>F1 (token)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500">
                          <a:solidFill>
                            <a:srgbClr val="FFFFFF"/>
                          </a:solidFill>
                        </a:defRPr>
                      </a:pPr>
                      <a:r>
                        <a:t>Latence moyenne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500">
                          <a:solidFill>
                            <a:srgbClr val="FFFFFF"/>
                          </a:solidFill>
                        </a:defRPr>
                      </a:pPr>
                      <a:r>
                        <a:t>Echecs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333333"/>
                          </a:solidFill>
                        </a:defRPr>
                      </a:pPr>
                      <a:r>
                        <a:t>CPU (Q4_K_M, llama.cpp)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333333"/>
                          </a:solidFill>
                        </a:defRPr>
                      </a:pPr>
                      <a:r>
                        <a:t>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333333"/>
                          </a:solidFill>
                        </a:defRPr>
                      </a:pPr>
                      <a:r>
                        <a:t>0,037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333333"/>
                          </a:solidFill>
                        </a:defRPr>
                      </a:pPr>
                      <a:r>
                        <a:t>~21,6 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333333"/>
                          </a:solidFill>
                        </a:defRPr>
                      </a:pPr>
                      <a:r>
                        <a:t>36/278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333333"/>
                          </a:solidFill>
                        </a:defRPr>
                      </a:pPr>
                      <a:r>
                        <a:t>GPU (bf16, transformers)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2E7D32"/>
                          </a:solidFill>
                        </a:defRPr>
                      </a:pPr>
                      <a:r>
                        <a:t>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2E7D32"/>
                          </a:solidFill>
                        </a:defRPr>
                      </a:pPr>
                      <a:r>
                        <a:t>0,043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2E7D32"/>
                          </a:solidFill>
                        </a:defRPr>
                      </a:pPr>
                      <a:r>
                        <a:t>~7,3 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2E7D32"/>
                          </a:solidFill>
                        </a:defRPr>
                      </a:pPr>
                      <a:r>
                        <a:t>0/278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3108960"/>
            <a:ext cx="10911535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600">
                <a:solidFill>
                  <a:srgbClr val="333333"/>
                </a:solidFill>
              </a:defRPr>
            </a:pPr>
            <a:r>
              <a:t>• La baseline GPU est plus rapide, plus fiable (zero echec) et legerement meilleure en F1 : reference retenue.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3A5F"/>
                </a:solidFill>
              </a:defRPr>
            </a:pPr>
            <a:r>
              <a:t>2.3-2.4 Entrainement SFT-LoRA reel</a:t>
            </a:r>
          </a:p>
          <a:p>
            <a:pPr>
              <a:defRPr sz="1400">
                <a:solidFill>
                  <a:srgbClr val="333333"/>
                </a:solidFill>
              </a:defRPr>
            </a:pPr>
            <a:r>
              <a:t>GPU L4 (HF Jobs)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11535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900">
                <a:solidFill>
                  <a:srgbClr val="333333"/>
                </a:solidFill>
              </a:defRPr>
            </a:pPr>
            <a:r>
              <a:t>• QLoRA 4-bit, rang LoRA 16 sur 4 modules d'attention (q_proj, k_proj, v_proj, o_proj).</a:t>
            </a:r>
          </a:p>
          <a:p>
            <a:pPr>
              <a:spcAft>
                <a:spcPts val="1200"/>
              </a:spcAft>
              <a:defRPr sz="1900">
                <a:solidFill>
                  <a:srgbClr val="333333"/>
                </a:solidFill>
              </a:defRPr>
            </a:pPr>
            <a:r>
              <a:t>• 3 epoques, 342 pas, environ 20 minutes - premier entrainement reel du projet mene a bien.</a:t>
            </a:r>
          </a:p>
          <a:p>
            <a:pPr>
              <a:spcAft>
                <a:spcPts val="1200"/>
              </a:spcAft>
              <a:defRPr sz="1900">
                <a:solidFill>
                  <a:srgbClr val="333333"/>
                </a:solidFill>
              </a:defRPr>
            </a:pPr>
            <a:r>
              <a:t>• Verdict de convergence : SAINE.</a:t>
            </a:r>
          </a:p>
          <a:p>
            <a:pPr>
              <a:spcAft>
                <a:spcPts val="1200"/>
              </a:spcAft>
              <a:defRPr sz="1900">
                <a:solidFill>
                  <a:srgbClr val="333333"/>
                </a:solidFill>
              </a:defRPr>
            </a:pPr>
            <a:r>
              <a:t>• Poids LoRA publies de facon persistante : mombasstic/chsa-triage-sft-lora.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3A5F"/>
                </a:solidFill>
              </a:defRPr>
            </a:pPr>
            <a:r>
              <a:t>2.5 Evaluation post-SFT</a:t>
            </a:r>
          </a:p>
          <a:p>
            <a:pPr>
              <a:defRPr sz="1400">
                <a:solidFill>
                  <a:srgbClr val="333333"/>
                </a:solidFill>
              </a:defRPr>
            </a:pPr>
            <a:r>
              <a:t>Resultat le plus important du projet a ce jour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22960" y="1645920"/>
          <a:ext cx="105156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2130552"/>
                <a:gridCol w="2130552"/>
                <a:gridCol w="2139696"/>
              </a:tblGrid>
              <a:tr h="457200">
                <a:tc>
                  <a:txBody>
                    <a:bodyPr/>
                    <a:lstStyle/>
                    <a:p>
                      <a:pPr>
                        <a:defRPr b="1" sz="1500">
                          <a:solidFill>
                            <a:srgbClr val="FFFFFF"/>
                          </a:solidFill>
                        </a:defRPr>
                      </a:pP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500">
                          <a:solidFill>
                            <a:srgbClr val="FFFFFF"/>
                          </a:solidFill>
                        </a:defRPr>
                      </a:pPr>
                      <a:r>
                        <a:t>Exact match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500">
                          <a:solidFill>
                            <a:srgbClr val="FFFFFF"/>
                          </a:solidFill>
                        </a:defRPr>
                      </a:pPr>
                      <a:r>
                        <a:t>F1 (token)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500">
                          <a:solidFill>
                            <a:srgbClr val="FFFFFF"/>
                          </a:solidFill>
                        </a:defRPr>
                      </a:pPr>
                      <a:r>
                        <a:t>Latence moyenne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333333"/>
                          </a:solidFill>
                        </a:defRPr>
                      </a:pPr>
                      <a:r>
                        <a:t>Baseline CPU (Q4_K_M)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333333"/>
                          </a:solidFill>
                        </a:defRPr>
                      </a:pPr>
                      <a:r>
                        <a:t>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333333"/>
                          </a:solidFill>
                        </a:defRPr>
                      </a:pPr>
                      <a:r>
                        <a:t>0,037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333333"/>
                          </a:solidFill>
                        </a:defRPr>
                      </a:pPr>
                      <a:r>
                        <a:t>~21,6 s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333333"/>
                          </a:solidFill>
                        </a:defRPr>
                      </a:pPr>
                      <a:r>
                        <a:t>Baseline GPU (bf16)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333333"/>
                          </a:solidFill>
                        </a:defRPr>
                      </a:pPr>
                      <a:r>
                        <a:t>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333333"/>
                          </a:solidFill>
                        </a:defRPr>
                      </a:pPr>
                      <a:r>
                        <a:t>0,043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333333"/>
                          </a:solidFill>
                        </a:defRPr>
                      </a:pPr>
                      <a:r>
                        <a:t>~7,3 s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333333"/>
                          </a:solidFill>
                        </a:defRPr>
                      </a:pPr>
                      <a:r>
                        <a:t>Post-SFT (bf16+LoRA)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2E7D32"/>
                          </a:solidFill>
                        </a:defRPr>
                      </a:pPr>
                      <a:r>
                        <a:t>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2E7D32"/>
                          </a:solidFill>
                        </a:defRPr>
                      </a:pPr>
                      <a:r>
                        <a:t>0,112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2E7D32"/>
                          </a:solidFill>
                        </a:defRPr>
                      </a:pPr>
                      <a:r>
                        <a:t>~11,6 s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3749039"/>
            <a:ext cx="10911535" cy="27432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600">
                <a:solidFill>
                  <a:srgbClr val="333333"/>
                </a:solidFill>
              </a:defRPr>
            </a:pPr>
            <a:r>
              <a:t>• Le F1 token quasi triple par rapport a la meilleure baseline (0,043 -&gt; 0,112), coherent avec le verdict SAINE.</a:t>
            </a:r>
          </a:p>
          <a:p>
            <a:pPr>
              <a:spcAft>
                <a:spcPts val="1200"/>
              </a:spcAft>
              <a:defRPr sz="1600">
                <a:solidFill>
                  <a:srgbClr val="333333"/>
                </a:solidFill>
              </a:defRPr>
            </a:pPr>
            <a:r>
              <a:t>• L'exact match reste a 0,000 sur les trois runs : attendu, la metrique exige une correspondance caractere-a-caractere avec des reponses de reference en langage libre.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3A5F"/>
                </a:solidFill>
              </a:defRPr>
            </a:pPr>
            <a:r>
              <a:t>3. DPO - Architecture &amp; verification</a:t>
            </a:r>
          </a:p>
          <a:p>
            <a:pPr>
              <a:defRPr sz="1400">
                <a:solidFill>
                  <a:srgbClr val="333333"/>
                </a:solidFill>
              </a:defRPr>
            </a:pPr>
            <a:r>
              <a:t>Continue le checkpoint SFT-LoRA deja entraine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11535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700">
                <a:solidFill>
                  <a:srgbClr val="333333"/>
                </a:solidFill>
              </a:defRPr>
            </a:pPr>
            <a:r>
              <a:t>• 13 etapes implementees (domaine -&gt; ports -&gt; application -&gt; TrlDpoEntraineurAdapter -&gt; training/E3_03_dpo_train.py), 428 tests passent, 4 ignores (GPU absent).</a:t>
            </a:r>
          </a:p>
          <a:p>
            <a:pPr>
              <a:spcAft>
                <a:spcPts val="1200"/>
              </a:spcAft>
              <a:defRPr sz="1700">
                <a:solidFill>
                  <a:srgbClr val="333333"/>
                </a:solidFill>
              </a:defRPr>
            </a:pPr>
            <a:r>
              <a:t>• Tout verifie sans GPU avant le premier run reel (installation temporaire de trl/peft pour confirmer les signatures), meme methode que pour le SFT.</a:t>
            </a:r>
          </a:p>
          <a:p>
            <a:pPr>
              <a:spcAft>
                <a:spcPts val="1200"/>
              </a:spcAft>
              <a:defRPr sz="1700">
                <a:solidFill>
                  <a:srgbClr val="333333"/>
                </a:solidFill>
              </a:defRPr>
            </a:pPr>
            <a:r>
              <a:t>• Deux bugs reels trouves et corriges au passage : le chat template natif de Qwen3 retirait le bloc &lt;think&gt; d'un chosen reformule ; la deserialisation d'un checkpoint DPO levait une TypeError.</a:t>
            </a:r>
          </a:p>
          <a:p>
            <a:pPr>
              <a:spcAft>
                <a:spcPts val="1200"/>
              </a:spcAft>
              <a:defRPr sz="1700">
                <a:solidFill>
                  <a:srgbClr val="333333"/>
                </a:solidFill>
              </a:defRPr>
            </a:pPr>
            <a:r>
              <a:t>• Continue mombasstic/chsa-triage-sft-lora ; poids DPO destines a mombasstic/chsa-triage-dpo-lora.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3A5F"/>
                </a:solidFill>
              </a:defRPr>
            </a:pPr>
            <a:r>
              <a:t>3.2 Entrainement DPO - diagnostiquer, corriger, reverifier</a:t>
            </a:r>
          </a:p>
          <a:p>
            <a:pPr>
              <a:defRPr sz="1400">
                <a:solidFill>
                  <a:srgbClr val="333333"/>
                </a:solidFill>
              </a:defRPr>
            </a:pPr>
            <a:r>
              <a:t>Trois lancements reels sur 100 exemples (22/09/2026)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11535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>
                <a:solidFill>
                  <a:srgbClr val="333333"/>
                </a:solidFill>
              </a:defRPr>
            </a:pPr>
            <a:r>
              <a:t>• 1. taux=5e-6, lot=4 : boucle complete avec succes, mais l'evaluation plante en OutOfMemoryError. Cause verifiee : per_device_eval_batch_size jamais fixe (defaut reel = 8, double du lot d'entrainement). Corrige : per_device_eval_batch_size = taille_lot.</a:t>
            </a:r>
          </a:p>
          <a:p>
            <a:pPr>
              <a:spcAft>
                <a:spcPts val="1200"/>
              </a:spcAft>
              <a:defRPr sz="1500">
                <a:solidFill>
                  <a:srgbClr val="333333"/>
                </a:solidFill>
              </a:defRPr>
            </a:pPr>
            <a:r>
              <a:t>• 2. taux=5e-6, lot=1 : premier run complet bout-en-bout. Verdict sous_apprentissage ; rewards/accuracies=0,30 (pire que le hasard), rewards/margins negatif.</a:t>
            </a:r>
          </a:p>
          <a:p>
            <a:pPr>
              <a:spcAft>
                <a:spcPts val="1200"/>
              </a:spcAft>
              <a:defRPr sz="1500">
                <a:solidFill>
                  <a:srgbClr val="333333"/>
                </a:solidFill>
              </a:defRPr>
            </a:pPr>
            <a:r>
              <a:t>• 3. taux=5e-5, lot=4 (recette corrigee) : rewards/accuracies 0,30 -&gt; 0,625 (train) / 0,75 (eval), margins redevient positif. Verdict encore sous_apprentissage, mais probable faux negatif (le seuil de convergence herite du SFT ignore rewards/accuracies et rewards/margins).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3A5F"/>
                </a:solidFill>
              </a:defRPr>
            </a:pPr>
            <a:r>
              <a:t>3.2 Entrainement DPO - run complet, 5000 exemples</a:t>
            </a:r>
          </a:p>
          <a:p>
            <a:pPr>
              <a:defRPr sz="1400">
                <a:solidFill>
                  <a:srgbClr val="333333"/>
                </a:solidFill>
              </a:defRPr>
            </a:pPr>
            <a:r>
              <a:t>Cahier des charges §7, Livrable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34747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2E7D32"/>
                </a:solidFill>
              </a:defRPr>
            </a:pPr>
            <a:r>
              <a:t>SAINE</a:t>
            </a:r>
          </a:p>
          <a:p>
            <a:pPr algn="ctr">
              <a:defRPr sz="1300">
                <a:solidFill>
                  <a:srgbClr val="333333"/>
                </a:solidFill>
              </a:defRPr>
            </a:pPr>
            <a:r>
              <a:t>Verdict de convergence</a:t>
            </a:r>
            <a:br/>
            <a:r>
              <a:t>(premier verdict sain DPO du projet)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0" y="1828800"/>
            <a:ext cx="3291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2E7D32"/>
                </a:solidFill>
              </a:defRPr>
            </a:pPr>
            <a:r>
              <a:t>72,5 %</a:t>
            </a:r>
          </a:p>
          <a:p>
            <a:pPr algn="ctr">
              <a:defRPr sz="1300">
                <a:solidFill>
                  <a:srgbClr val="333333"/>
                </a:solidFill>
              </a:defRPr>
            </a:pPr>
            <a:r>
              <a:t>rewards/accuracies</a:t>
            </a:r>
            <a:br/>
            <a:r>
              <a:t>(rewards/margins = +3,00)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21040" y="1828800"/>
            <a:ext cx="3291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2E7D32"/>
                </a:solidFill>
              </a:defRPr>
            </a:pPr>
            <a:r>
              <a:t>1h44</a:t>
            </a:r>
          </a:p>
          <a:p>
            <a:pPr algn="ctr">
              <a:defRPr sz="1300">
                <a:solidFill>
                  <a:srgbClr val="333333"/>
                </a:solidFill>
              </a:defRPr>
            </a:pPr>
            <a:r>
              <a:t>Duree reelle</a:t>
            </a:r>
            <a:br/>
            <a:r>
              <a:t>(estimation initiale : 30-60 min)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931920"/>
            <a:ext cx="10911535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>
                <a:solidFill>
                  <a:srgbClr val="333333"/>
                </a:solidFill>
              </a:defRPr>
            </a:pPr>
            <a:r>
              <a:t>• taux_apprentissage=5e-5, taille_lot=4, beta=0,1 - recette corrigee d'apres les 3 runs precedents.</a:t>
            </a:r>
          </a:p>
          <a:p>
            <a:pPr>
              <a:spcAft>
                <a:spcPts val="1200"/>
              </a:spcAft>
              <a:defRPr sz="1500">
                <a:solidFill>
                  <a:srgbClr val="333333"/>
                </a:solidFill>
              </a:defRPr>
            </a:pPr>
            <a:r>
              <a:t>• rewards/chosen=-1,72, rewards/rejected=-4,72 : le modele prefere bien 'chosen' a 'rejected', comme attendu.</a:t>
            </a:r>
          </a:p>
          <a:p>
            <a:pPr>
              <a:spcAft>
                <a:spcPts val="1200"/>
              </a:spcAft>
              <a:defRPr sz="1500">
                <a:solidFill>
                  <a:srgbClr val="333333"/>
                </a:solidFill>
              </a:defRPr>
            </a:pPr>
            <a:r>
              <a:t>• Confirme la lecture faite a 100 exemples : le verdict sous_apprentissage etait un faux negatif du seuil herite du SFT, pas un echec d'apprentissage. Poids publies : mombasstic/chsa-triage-dpo-lora.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3A5F"/>
                </a:solidFill>
              </a:defRPr>
            </a:pPr>
            <a:r>
              <a:t>3.3 Evaluation post-DPO - un resultat inattendu</a:t>
            </a:r>
          </a:p>
          <a:p>
            <a:pPr>
              <a:defRPr sz="1400">
                <a:solidFill>
                  <a:srgbClr val="333333"/>
                </a:solidFill>
              </a:defRPr>
            </a:pPr>
            <a:r>
              <a:t>Memes 278 exemples, meme metrique que les baselines et le post-SFT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22960" y="1645920"/>
          <a:ext cx="105156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2130552"/>
                <a:gridCol w="2130552"/>
                <a:gridCol w="2139696"/>
              </a:tblGrid>
              <a:tr h="457200">
                <a:tc>
                  <a:txBody>
                    <a:bodyPr/>
                    <a:lstStyle/>
                    <a:p>
                      <a:pPr>
                        <a:defRPr b="1" sz="1500">
                          <a:solidFill>
                            <a:srgbClr val="FFFFFF"/>
                          </a:solidFill>
                        </a:defRPr>
                      </a:pP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500">
                          <a:solidFill>
                            <a:srgbClr val="FFFFFF"/>
                          </a:solidFill>
                        </a:defRPr>
                      </a:pPr>
                      <a:r>
                        <a:t>Exact match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500">
                          <a:solidFill>
                            <a:srgbClr val="FFFFFF"/>
                          </a:solidFill>
                        </a:defRPr>
                      </a:pPr>
                      <a:r>
                        <a:t>F1 (token)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500">
                          <a:solidFill>
                            <a:srgbClr val="FFFFFF"/>
                          </a:solidFill>
                        </a:defRPr>
                      </a:pPr>
                      <a:r>
                        <a:t>Latence moyenne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333333"/>
                          </a:solidFill>
                        </a:defRPr>
                      </a:pPr>
                      <a:r>
                        <a:t>Baseline CPU (Q4_K_M)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333333"/>
                          </a:solidFill>
                        </a:defRPr>
                      </a:pPr>
                      <a:r>
                        <a:t>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333333"/>
                          </a:solidFill>
                        </a:defRPr>
                      </a:pPr>
                      <a:r>
                        <a:t>0,037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333333"/>
                          </a:solidFill>
                        </a:defRPr>
                      </a:pPr>
                      <a:r>
                        <a:t>~21,6 s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333333"/>
                          </a:solidFill>
                        </a:defRPr>
                      </a:pPr>
                      <a:r>
                        <a:t>Baseline GPU (bf16)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333333"/>
                          </a:solidFill>
                        </a:defRPr>
                      </a:pPr>
                      <a:r>
                        <a:t>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333333"/>
                          </a:solidFill>
                        </a:defRPr>
                      </a:pPr>
                      <a:r>
                        <a:t>0,043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333333"/>
                          </a:solidFill>
                        </a:defRPr>
                      </a:pPr>
                      <a:r>
                        <a:t>~7,3 s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333333"/>
                          </a:solidFill>
                        </a:defRPr>
                      </a:pPr>
                      <a:r>
                        <a:t>Post-SFT (bf16+LoRA)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333333"/>
                          </a:solidFill>
                        </a:defRPr>
                      </a:pPr>
                      <a:r>
                        <a:t>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333333"/>
                          </a:solidFill>
                        </a:defRPr>
                      </a:pPr>
                      <a:r>
                        <a:t>0,112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333333"/>
                          </a:solidFill>
                        </a:defRPr>
                      </a:pPr>
                      <a:r>
                        <a:t>~11,6 s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333333"/>
                          </a:solidFill>
                        </a:defRPr>
                      </a:pPr>
                      <a:r>
                        <a:t>Post-DPO (bf16+LoRA)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2E7D32"/>
                          </a:solidFill>
                        </a:defRPr>
                      </a:pPr>
                      <a:r>
                        <a:t>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2E7D32"/>
                          </a:solidFill>
                        </a:defRPr>
                      </a:pPr>
                      <a:r>
                        <a:t>0,049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2E7D32"/>
                          </a:solidFill>
                        </a:defRPr>
                      </a:pPr>
                      <a:r>
                        <a:t>~12,0 s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023360"/>
            <a:ext cx="10911535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600">
                <a:solidFill>
                  <a:srgbClr val="333333"/>
                </a:solidFill>
              </a:defRPr>
            </a:pPr>
            <a:r>
              <a:t>• Le F1 regresse nettement apres DPO (0,112 -&gt; 0,049), quasiment au niveau de la baseline GPU seule.</a:t>
            </a:r>
          </a:p>
          <a:p>
            <a:pPr>
              <a:spcAft>
                <a:spcPts val="1200"/>
              </a:spcAft>
              <a:defRPr sz="1600">
                <a:solidFill>
                  <a:srgbClr val="333333"/>
                </a:solidFill>
              </a:defRPr>
            </a:pPr>
            <a:r>
              <a:t>• Cause reelle confirmee par inspection directe des generations : degenerescence reelle du modele (changements de langue aleatoires EN/FR -&gt; JA/ZH/AR, effondrements en repetitions), pas seulement une perte du format JSON attendu.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3A5F"/>
                </a:solidFill>
              </a:defRPr>
            </a:pPr>
            <a:r>
              <a:t>3.3 Cause racine et correction</a:t>
            </a:r>
          </a:p>
          <a:p>
            <a:pPr>
              <a:defRPr sz="1400">
                <a:solidFill>
                  <a:srgbClr val="333333"/>
                </a:solidFill>
              </a:defRPr>
            </a:pPr>
            <a:r>
              <a:t>Ancrage trop faible au modele de reference (pi_ref)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11535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700">
                <a:solidFill>
                  <a:srgbClr val="333333"/>
                </a:solidFill>
              </a:defRPr>
            </a:pPr>
            <a:r>
              <a:t>• rewards/margins=+3,00 est tres eleve pour beta=0,1 : signe coherent d'un ancrage trop faible a pi_ref, pas seulement d'un parametre de decodage a l'evaluation.</a:t>
            </a:r>
          </a:p>
          <a:p>
            <a:pPr>
              <a:spcAft>
                <a:spcPts val="1200"/>
              </a:spcAft>
              <a:defRPr sz="1700">
                <a:solidFill>
                  <a:srgbClr val="333333"/>
                </a:solidFill>
              </a:defRPr>
            </a:pPr>
            <a:r>
              <a:t>• beta releve a 0,3 dans la recette pour tester cette hypothese, validee d'abord sur le checkpoint pas cher a 100 exemples avant de rengager un run a 5000.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3749039"/>
          <a:ext cx="105156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0"/>
                <a:gridCol w="3200400"/>
                <a:gridCol w="2743200"/>
              </a:tblGrid>
              <a:tr h="457200">
                <a:tc>
                  <a:txBody>
                    <a:bodyPr/>
                    <a:lstStyle/>
                    <a:p>
                      <a:pPr>
                        <a:defRPr b="1" sz="1500">
                          <a:solidFill>
                            <a:srgbClr val="FFFFFF"/>
                          </a:solidFill>
                        </a:defRPr>
                      </a:pPr>
                      <a:r>
                        <a:t>Checkpoint (100 ex.)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500">
                          <a:solidFill>
                            <a:srgbClr val="FFFFFF"/>
                          </a:solidFill>
                        </a:defRPr>
                      </a:pPr>
                      <a:r>
                        <a:t>repetition_penalty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500">
                          <a:solidFill>
                            <a:srgbClr val="FFFFFF"/>
                          </a:solidFill>
                        </a:defRPr>
                      </a:pPr>
                      <a:r>
                        <a:t>F1 (token)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333333"/>
                          </a:solidFill>
                        </a:defRPr>
                      </a:pPr>
                      <a:r>
                        <a:t>beta=0,1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333333"/>
                          </a:solidFill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333333"/>
                          </a:solidFill>
                        </a:defRPr>
                      </a:pPr>
                      <a:r>
                        <a:t>0,049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333333"/>
                          </a:solidFill>
                        </a:defRPr>
                      </a:pPr>
                      <a:r>
                        <a:t>beta=0,1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333333"/>
                          </a:solidFill>
                        </a:defRPr>
                      </a:pPr>
                      <a:r>
                        <a:t>1,2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333333"/>
                          </a:solidFill>
                        </a:defRPr>
                      </a:pPr>
                      <a:r>
                        <a:t>0,063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333333"/>
                          </a:solidFill>
                        </a:defRPr>
                      </a:pPr>
                      <a:r>
                        <a:t>beta=0,3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2E7D32"/>
                          </a:solidFill>
                        </a:defRPr>
                      </a:pPr>
                      <a:r>
                        <a:t>1,2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2E7D32"/>
                          </a:solidFill>
                        </a:defRPr>
                      </a:pPr>
                      <a:r>
                        <a:t>0,112 (= post-SFT)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3A5F"/>
                </a:solidFill>
              </a:defRPr>
            </a:pPr>
            <a:r>
              <a:t>Synthese SFT + DPO</a:t>
            </a:r>
          </a:p>
          <a:p>
            <a:pPr>
              <a:defRPr sz="1400">
                <a:solidFill>
                  <a:srgbClr val="333333"/>
                </a:solidFill>
              </a:defRPr>
            </a:pPr>
            <a:r>
              <a:t>Parametres retenus, resultats, problemes rencontres et corriges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11535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600">
                <a:solidFill>
                  <a:srgbClr val="333333"/>
                </a:solidFill>
              </a:defRPr>
            </a:pPr>
            <a:r>
              <a:t>• Parametres DPO retenus : beta=0,3, taux_apprentissage=5e-5, taille_lot=4, per_device_eval_batch_size=4, repetition_penalty=1,2 a l'inference (beta=0,3 valide au run pas cher a 100 exemples ; confirmation a 5000 = prochaine etape).</a:t>
            </a:r>
          </a:p>
          <a:p>
            <a:pPr>
              <a:spcAft>
                <a:spcPts val="1200"/>
              </a:spcAft>
              <a:defRPr sz="1600">
                <a:solidFill>
                  <a:srgbClr val="333333"/>
                </a:solidFill>
              </a:defRPr>
            </a:pPr>
            <a:r>
              <a:t>• 1. OOM a l'evaluation -&gt; per_device_eval_batch_size jamais fixe (defaut = 8) -&gt; fixe explicitement.</a:t>
            </a:r>
          </a:p>
          <a:p>
            <a:pPr>
              <a:spcAft>
                <a:spcPts val="1200"/>
              </a:spcAft>
              <a:defRPr sz="1600">
                <a:solidFill>
                  <a:srgbClr val="333333"/>
                </a:solidFill>
              </a:defRPr>
            </a:pPr>
            <a:r>
              <a:t>• 2. Sous-apprentissage initial -&gt; taux_apprentissage trop faible (5e-6) -&gt; releve a 5e-5.</a:t>
            </a:r>
          </a:p>
          <a:p>
            <a:pPr>
              <a:spcAft>
                <a:spcPts val="1200"/>
              </a:spcAft>
              <a:defRPr sz="1600">
                <a:solidFill>
                  <a:srgbClr val="333333"/>
                </a:solidFill>
              </a:defRPr>
            </a:pPr>
            <a:r>
              <a:t>• 3. Degenerescence de generation post-DPO -&gt; ancrage trop faible a pi_ref (beta=0,1) -&gt; beta releve a 0,3 + repetition_penalty=1,2 a l'inference.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4297680"/>
          <a:ext cx="105156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2130552"/>
                <a:gridCol w="2130552"/>
                <a:gridCol w="2139696"/>
              </a:tblGrid>
              <a:tr h="457200">
                <a:tc>
                  <a:txBody>
                    <a:bodyPr/>
                    <a:lstStyle/>
                    <a:p>
                      <a:pPr>
                        <a:defRPr b="1" sz="1500">
                          <a:solidFill>
                            <a:srgbClr val="FFFFFF"/>
                          </a:solidFill>
                        </a:defRPr>
                      </a:pP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500">
                          <a:solidFill>
                            <a:srgbClr val="FFFFFF"/>
                          </a:solidFill>
                        </a:defRPr>
                      </a:pPr>
                      <a:r>
                        <a:t>Exact match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500">
                          <a:solidFill>
                            <a:srgbClr val="FFFFFF"/>
                          </a:solidFill>
                        </a:defRPr>
                      </a:pPr>
                      <a:r>
                        <a:t>F1 (token)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500">
                          <a:solidFill>
                            <a:srgbClr val="FFFFFF"/>
                          </a:solidFill>
                        </a:defRPr>
                      </a:pPr>
                      <a:r>
                        <a:t>Latence moyenne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333333"/>
                          </a:solidFill>
                        </a:defRPr>
                      </a:pPr>
                      <a:r>
                        <a:t>Baseline CPU (Q4_K_M)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333333"/>
                          </a:solidFill>
                        </a:defRPr>
                      </a:pPr>
                      <a:r>
                        <a:t>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333333"/>
                          </a:solidFill>
                        </a:defRPr>
                      </a:pPr>
                      <a:r>
                        <a:t>0,037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333333"/>
                          </a:solidFill>
                        </a:defRPr>
                      </a:pPr>
                      <a:r>
                        <a:t>~21,6 s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333333"/>
                          </a:solidFill>
                        </a:defRPr>
                      </a:pPr>
                      <a:r>
                        <a:t>Baseline GPU (bf16)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333333"/>
                          </a:solidFill>
                        </a:defRPr>
                      </a:pPr>
                      <a:r>
                        <a:t>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333333"/>
                          </a:solidFill>
                        </a:defRPr>
                      </a:pPr>
                      <a:r>
                        <a:t>0,043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333333"/>
                          </a:solidFill>
                        </a:defRPr>
                      </a:pPr>
                      <a:r>
                        <a:t>~7,3 s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333333"/>
                          </a:solidFill>
                        </a:defRPr>
                      </a:pPr>
                      <a:r>
                        <a:t>Post-SFT (bf16+LoRA)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333333"/>
                          </a:solidFill>
                        </a:defRPr>
                      </a:pPr>
                      <a:r>
                        <a:t>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333333"/>
                          </a:solidFill>
                        </a:defRPr>
                      </a:pPr>
                      <a:r>
                        <a:t>0,112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333333"/>
                          </a:solidFill>
                        </a:defRPr>
                      </a:pPr>
                      <a:r>
                        <a:t>~11,6 s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333333"/>
                          </a:solidFill>
                        </a:defRPr>
                      </a:pPr>
                      <a:r>
                        <a:t>Post-DPO (beta=0,1)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2E7D32"/>
                          </a:solidFill>
                        </a:defRPr>
                      </a:pPr>
                      <a:r>
                        <a:t>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2E7D32"/>
                          </a:solidFill>
                        </a:defRPr>
                      </a:pPr>
                      <a:r>
                        <a:t>0,049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2E7D32"/>
                          </a:solidFill>
                        </a:defRPr>
                      </a:pPr>
                      <a:r>
                        <a:t>~12,0 s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3A5F"/>
                </a:solidFill>
              </a:defRPr>
            </a:pPr>
            <a:r>
              <a:t>4. Deploiement - decisions actees</a:t>
            </a:r>
          </a:p>
          <a:p>
            <a:pPr>
              <a:defRPr sz="1400">
                <a:solidFill>
                  <a:srgbClr val="333333"/>
                </a:solidFill>
              </a:defRPr>
            </a:pPr>
            <a:r>
              <a:t>Code ecrit et teste, jamais deploye reellement a ce jour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11535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</a:defRPr>
            </a:pPr>
            <a:r>
              <a:t>• Le LoRA DPO n'est jamais fusionne avec la base : vLLM le sert nativement (--enable-lora).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</a:defRPr>
            </a:pPr>
            <a:r>
              <a:t>• L'entretien adaptatif et le format JSON strict + &lt;think&gt; sont geres au niveau du prompting a l'inference, jamais re-appris pendant l'entrainement.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</a:defRPr>
            </a:pPr>
            <a:r>
              <a:t>• Le garde-fou de securite clinique NF4 (juge LLM, safety &lt; 4/7) reste un point d'extension documente (TODO explicite dans le code) : decision produit encore ouverte.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3A5F"/>
                </a:solidFill>
              </a:defRPr>
            </a:pPr>
            <a:r>
              <a:t>4.1-4.2 Architecture en trois pieces</a:t>
            </a:r>
          </a:p>
          <a:p>
            <a:pPr>
              <a:defRPr sz="1400">
                <a:solidFill>
                  <a:srgbClr val="333333"/>
                </a:solidFill>
              </a:defRPr>
            </a:pPr>
            <a:r>
              <a:t>Aucun Space HF cree ni pousse a ce jour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11535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>
                <a:solidFill>
                  <a:srgbClr val="333333"/>
                </a:solidFill>
              </a:defRPr>
            </a:pPr>
            <a:r>
              <a:t>• 1. Space Docker/GPU (couteux, allume seulement pour les tests) : serveur vLLM + LoRA DPO non fusionne (deploy/space_gpu_api_vllm/).</a:t>
            </a:r>
          </a:p>
          <a:p>
            <a:pPr>
              <a:spcAft>
                <a:spcPts val="1200"/>
              </a:spcAft>
              <a:defRPr sz="1500">
                <a:solidFill>
                  <a:srgbClr val="333333"/>
                </a:solidFill>
              </a:defRPr>
            </a:pPr>
            <a:r>
              <a:t>• 2. Space Docker/CPU : API FastAPI seule (Dockerfile racine), entretien multi-tours + bouton explicite 'obtenir le diagnostic', cle API (X-API-Key), journal d'audit JSONL append-only.</a:t>
            </a:r>
          </a:p>
          <a:p>
            <a:pPr>
              <a:spcAft>
                <a:spcPts val="1200"/>
              </a:spcAft>
              <a:defRPr sz="1500">
                <a:solidFill>
                  <a:srgbClr val="333333"/>
                </a:solidFill>
              </a:defRPr>
            </a:pPr>
            <a:r>
              <a:t>• 3. Space Streamlit/CPU (leger, laisse allume en permanence) : interface de test de l'entretien clinique (interfaces/web/), sonde GET /sante en boucle sans synchronisation manuelle des demarrages.</a:t>
            </a:r>
          </a:p>
          <a:p>
            <a:pPr>
              <a:spcAft>
                <a:spcPts val="1200"/>
              </a:spcAft>
              <a:defRPr sz="1500">
                <a:solidFill>
                  <a:srgbClr val="333333"/>
                </a:solidFill>
              </a:defRPr>
            </a:pPr>
            <a:r>
              <a:t>• /sante retourne toujours HTTP 200 (corps structure disponible/detail) : un redemarrage automatique du conteneur API pendant le chargement du modele vLLM n'aiderait en rien.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3A5F"/>
                </a:solidFill>
              </a:defRPr>
            </a:pPr>
            <a:r>
              <a:t>4.4 CI/CD</a:t>
            </a:r>
          </a:p>
          <a:p>
            <a:pPr>
              <a:defRPr sz="1400">
                <a:solidFill>
                  <a:srgbClr val="333333"/>
                </a:solidFill>
              </a:defRPr>
            </a:pPr>
            <a:r>
              <a:t>.github/workflows/ci.yml - aucun deploiement automatique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11535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700">
                <a:solidFill>
                  <a:srgbClr val="333333"/>
                </a:solidFill>
              </a:defRPr>
            </a:pPr>
            <a:r>
              <a:t>• Job tests : installe dev+local+api (+pyyaml), lance uv run pytest tests/ -q. 433 passed / 5 skipped au moment de l'ecriture.</a:t>
            </a:r>
          </a:p>
          <a:p>
            <a:pPr>
              <a:spcAft>
                <a:spcPts val="1200"/>
              </a:spcAft>
              <a:defRPr sz="1700">
                <a:solidFill>
                  <a:srgbClr val="333333"/>
                </a:solidFill>
              </a:defRPr>
            </a:pPr>
            <a:r>
              <a:t>• Job docker-build (apres tests) : reconstruit l'image de l'API pour verifier que le Dockerfile build, sans jamais la publier ni la deployer.</a:t>
            </a:r>
          </a:p>
          <a:p>
            <a:pPr>
              <a:spcAft>
                <a:spcPts val="1200"/>
              </a:spcAft>
              <a:defRPr sz="1700">
                <a:solidFill>
                  <a:srgbClr val="333333"/>
                </a:solidFill>
              </a:defRPr>
            </a:pPr>
            <a:r>
              <a:t>• Le deploiement des Spaces HF reste manuel par decision : jamais automatise dans ce pipeline.</a:t>
            </a:r>
          </a:p>
          <a:p>
            <a:pPr>
              <a:spcAft>
                <a:spcPts val="1200"/>
              </a:spcAft>
              <a:defRPr sz="1700">
                <a:solidFill>
                  <a:srgbClr val="333333"/>
                </a:solidFill>
              </a:defRPr>
            </a:pPr>
            <a:r>
              <a:t>• Aucun job GPU/vLLM reel lance dans le cadre du deploiement (le build Docker n'a pas pu etre verifie non plus dans ce bac a sable, WSL2 sans integration Docker Desktop).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3A5F"/>
                </a:solidFill>
              </a:defRPr>
            </a:pPr>
            <a:r>
              <a:t>5. Conclusions - statut reel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91153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700">
                <a:solidFill>
                  <a:srgbClr val="333333"/>
                </a:solidFill>
              </a:defRPr>
            </a:pPr>
            <a:r>
              <a:t>• Etape 1 (donnees) : terminee - 134 883 exemples pivot, anonymises et repartis en splits.</a:t>
            </a:r>
          </a:p>
          <a:p>
            <a:pPr>
              <a:spcAft>
                <a:spcPts val="1200"/>
              </a:spcAft>
              <a:defRPr sz="1700">
                <a:solidFill>
                  <a:srgbClr val="333333"/>
                </a:solidFill>
              </a:defRPr>
            </a:pPr>
            <a:r>
              <a:t>• Etape 2 (SFT) : reussie et validee - F1 token triple par rapport a la meilleure baseline.</a:t>
            </a:r>
          </a:p>
          <a:p>
            <a:pPr>
              <a:spcAft>
                <a:spcPts val="1200"/>
              </a:spcAft>
              <a:defRPr sz="1700">
                <a:solidFill>
                  <a:srgbClr val="333333"/>
                </a:solidFill>
              </a:defRPr>
            </a:pPr>
            <a:r>
              <a:t>• Etape 3 (DPO) : entrainee avec succes a l'echelle reelle (verdict saine, rewards/accuracies=0,725) ; degenerescence a l'evaluation diagnostiquee et corrigee (beta=0,3 + repetition_penalty=1,2), validee pour l'instant seulement au run pas cher a 100 exemples.</a:t>
            </a:r>
          </a:p>
          <a:p>
            <a:pPr>
              <a:spcAft>
                <a:spcPts val="1200"/>
              </a:spcAft>
              <a:defRPr sz="1700">
                <a:solidFill>
                  <a:srgbClr val="333333"/>
                </a:solidFill>
              </a:defRPr>
            </a:pPr>
            <a:r>
              <a:t>• Etape 4 (deploiement) : code ecrit et teste (433 passed / 5 skipped), jamais deploye reellement.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3A5F"/>
                </a:solidFill>
              </a:defRPr>
            </a:pPr>
            <a:r>
              <a:t>5. Conclusions - ce qui reste ouvert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11535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700">
                <a:solidFill>
                  <a:srgbClr val="333333"/>
                </a:solidFill>
              </a:defRPr>
            </a:pPr>
            <a:r>
              <a:t>• Confirmer beta=0,3 sur le run complet a 5000 exemples (prochaine etape immediate, pas encore lancee).</a:t>
            </a:r>
          </a:p>
          <a:p>
            <a:pPr>
              <a:spcAft>
                <a:spcPts val="1200"/>
              </a:spcAft>
              <a:defRPr sz="1700">
                <a:solidFill>
                  <a:srgbClr val="333333"/>
                </a:solidFill>
              </a:defRPr>
            </a:pPr>
            <a:r>
              <a:t>• Garde-fou de securite clinique NF4 (juge LLM) : decision produit encore ouverte, non implemente.</a:t>
            </a:r>
          </a:p>
          <a:p>
            <a:pPr>
              <a:spcAft>
                <a:spcPts val="1200"/>
              </a:spcAft>
              <a:defRPr sz="1700">
                <a:solidFill>
                  <a:srgbClr val="333333"/>
                </a:solidFill>
              </a:defRPr>
            </a:pPr>
            <a:r>
              <a:t>• Aucun Space HF (GPU vLLM, API, Streamlit) cree ni pousse a ce jour.</a:t>
            </a:r>
          </a:p>
          <a:p>
            <a:pPr>
              <a:spcAft>
                <a:spcPts val="1200"/>
              </a:spcAft>
              <a:defRPr sz="1700">
                <a:solidFill>
                  <a:srgbClr val="333333"/>
                </a:solidFill>
              </a:defRPr>
            </a:pPr>
            <a:r>
              <a:t>• Tests de latence et de robustesse en conditions reelles (charge, concurrence) restant a faire.</a:t>
            </a:r>
          </a:p>
          <a:p>
            <a:pPr>
              <a:spcAft>
                <a:spcPts val="1200"/>
              </a:spcAft>
              <a:defRPr sz="1700">
                <a:solidFill>
                  <a:srgbClr val="333333"/>
                </a:solidFill>
              </a:defRPr>
            </a:pPr>
            <a:r>
              <a:t>• Classification du niveau ESI (F3) non calculable : le dataset n'a pas encore de reponses de reference au format JSON structure qu'exige cette metrique.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0"/>
            <a:ext cx="1072865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F3A5F"/>
                </a:solidFill>
              </a:defRPr>
            </a:pPr>
            <a:r>
              <a:t>Merci - Questions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